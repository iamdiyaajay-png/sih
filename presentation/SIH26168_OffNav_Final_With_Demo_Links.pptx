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drive/folders/1gtaE7CROe82QSCGNXtpset-DtYZG_qO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36576" rIns="36576" tIns="27432" bIns="27432" anchor="t"/>
          <a:lstStyle/>
          <a:p>
            <a:pPr algn="ctr">
              <a:spcAft>
                <a:spcPts val="15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36576" rIns="36576" tIns="27432" bIns="27432" anchor="t"/>
          <a:lstStyle/>
          <a:p>
            <a:pPr algn="ctr">
              <a:spcAft>
                <a:spcPts val="15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t>Problem Statement ID – SIH26168</a:t>
            </a:r>
            <a:endParaRPr lang="en-US" dirty="0"/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t>Problem Statement Title- AI-ML Based Intelligent Dead Reckoning System for Seamless Navigation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t>Theme- Miscellaneous / Smart Automation / Defense &amp; Aerospace / Mobility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t>PS Category- Software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t>Organization / Ministry- Indian Space Research Organisation (ISRO)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t>Team ID- [Your Registered Team ID]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t>Team Name- [Your 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4736592"/>
            <a:ext cx="5989320" cy="12344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15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t>OffNav (v7.0): Defense-Grade Software-Defined Intelligent Dead Reckoning (IDR) with 100% Off-Grid Edge AI, Gated 100 km Calibration Lifecycle, Autonomous Offline Road Routing, and Sub-Meter Precision on Commodity Smartphones.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36576" rIns="36576" tIns="27432" bIns="27432" anchor="t"/>
          <a:lstStyle/>
          <a:p>
            <a:pPr eaLnBrk="1" hangingPunct="1" algn="ctr">
              <a:spcAft>
                <a:spcPts val="15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OffNav: Autonomous Intelligent Dead Reckoning &amp; 100% Off-Grid Navigation for GNSS-Denied Environments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47472" y="1325880"/>
            <a:ext cx="75438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rIns="36576" tIns="27432" bIns="27432" anchor="t">
            <a:spAutoFit/>
          </a:bodyPr>
          <a:lstStyle/>
          <a:p>
            <a:pPr marL="342900" indent="-342900">
              <a:spcAft>
                <a:spcPts val="150"/>
              </a:spcAft>
              <a:buFont typeface="Wingdings" panose="05000000000000000000" pitchFamily="2" charset="2"/>
              <a:buChar char="v"/>
              <a:defRPr sz="705" b="0">
                <a:solidFill>
                  <a:srgbClr val="000000"/>
                </a:solidFill>
                <a:latin typeface="Arial"/>
              </a:defRPr>
            </a:pPr>
            <a:r>
              <a:t>1. Core Solution Overview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A 100% on-device, phone-native navigation engine that provides continuous, sub-meter positioning when satellite signals drop due to electronic warfare (EW) jamming, subterranean tunnels, urban canyons, or dense forest canopies.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Completely eliminates dependencies on expensive external hardware ($30,000+ military INS or physical transmission wheel odometers) by utilizing commodity phone MEMS sensors and synthetic Edge AI odometry.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100% Off-Grid Guarantee: Fully operational in complete radio silence with zero satellite reception, zero cellular connectivity, and zero cloud API dependency.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2. Quad-Phase Operational Lifecycle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Phase 1 — First-Time 10 km GPS Baseline Learning: When the app is first launched with GPS available, high-rate GNSS (5 Hz) trains the on-device AI regression engine and learns sensor accelerometer/gyroscope biases (b_a, b_ω). If no GPS at 1st launch, offline static rest leveling calibrates tilt and zero-rate gyro drift.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Phase 2 — Calibrated Operational Mode (Locked): Calibration does NOT run continuously. After the initial 10 km, baselines and AI weights are strictly locked and frozen to prevent overfitting or baseline corruption during normal driving.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Phase 3 — Periodic 100 km / Manual Recalibration: Recalibration is gated to trigger only every 100 km completed with the app (or 72-hour operational limit), or via a manual "RECALIBRATE NOW" button tap, running an active 5 km calibration window before re-locking.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Phase 4 — Autonomous GNSS Blackout (100% Off-Grid IDR Mode): Upon satellite loss or manual outage, a 7-State Extended Kalman Filter (EKF) fuses 6-axis IMU temporal patterns with the pre-trained EdgeKinematicsAi forward velocity regression and enforces Non-Holonomic Constraints (NHC) (v_lat = 0), continuously advancing the vehicle position along the road network without runaway drift.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3. Key Disruptive Innovations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Oxford IO-VNBD Edge AI Kinematics (EdgeKinematicsAi): On-device neural network executing at 50 Hz (&lt; 0.45 ms latency) regressing forward vehicle speed directly from 6-axis chassis vibrations without double-integration error.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Stationary Speed Authority &amp; Rest Lock: Strict Doppler velocity clamping (≤ 0.40 m/s → 0.0 km/h) coupled with IMU resting variance gating (σ_a² &lt; 0.05, |a_fwd| &lt; 0.10 m/s²), completely eliminating phantom speed jitter when stopped.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Continuous Follow-Me Tracking &amp; Clean Vector Map: Synchronized camera follow-me mode in free-drive and navigation, glowing cyan Re-Center crosshairs button, and suppression of historical breadcrumb trace lines for a professional, uncluttered navigation experience.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Resilient Urban Canyon Signal Ingestion: Expanded 80m–100m accuracy tolerance and EKF re-anchoring, preventing false GPS loss triggering in dense Indian urban high-rise corridors.</a:t>
            </a:r>
          </a:p>
          <a:p>
            <a:pPr>
              <a:spcAft>
                <a:spcPts val="150"/>
              </a:spcAft>
              <a:defRPr sz="705" b="0">
                <a:solidFill>
                  <a:srgbClr val="000000"/>
                </a:solidFill>
                <a:latin typeface="Arial"/>
              </a:defRPr>
            </a:pPr>
            <a:r>
              <a:t>• Autonomous Vector Road Network Router (OfflineRoadRouter): Dynamic A*/Dijkstra routing over downloaded OpenStreetMap arterial highway networks with realistic road curves and turns.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b4617e9e-0321-4c5f-af90-befaf9f697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53312"/>
            <a:ext cx="3429000" cy="4956048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8275320" y="6327648"/>
            <a:ext cx="33375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150"/>
              </a:spcAft>
              <a:defRPr sz="750" b="0">
                <a:solidFill>
                  <a:srgbClr val="464646"/>
                </a:solidFill>
                <a:latin typeface="Arial"/>
              </a:defRPr>
            </a:pPr>
            <a:r>
              <a:t>OffNav Settings &amp; Config — prototype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6576" rIns="36576" tIns="27432" bIns="27432" anchor="t"/>
          <a:lstStyle/>
          <a:p>
            <a:pPr eaLnBrk="1" hangingPunct="1" algn="ctr">
              <a:spcAft>
                <a:spcPts val="15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System Architecture, Sensor Fusion Pipeline &amp; Full-Stack Implementation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261872"/>
            <a:ext cx="11109960" cy="2606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rIns="36576" tIns="27432" bIns="27432" anchor="t">
            <a:spAutoFit/>
          </a:bodyPr>
          <a:lstStyle/>
          <a:p>
            <a:pPr marL="342900" indent="-342900" algn="just">
              <a:spcAft>
                <a:spcPts val="150"/>
              </a:spcAft>
              <a:buFont typeface="Arial" panose="020B0604020202020204" pitchFamily="34" charset="0"/>
              <a:buChar char="•"/>
              <a:defRPr sz="840" b="0">
                <a:solidFill>
                  <a:srgbClr val="000000"/>
                </a:solidFill>
                <a:latin typeface="Arial"/>
              </a:defRPr>
            </a:pPr>
            <a:r>
              <a:t>1. Core Technical Stack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• UI &amp; Graphics: Flutter 3.38+ / Dart 3.10+ backed by the Impeller Vulkan GPU engine (Android 16 / API 36) rendering 60–120 FPS high-refresh navigation.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• Sensor Ingestion Pipeline: Hardware Accelerometer, Gyroscope, and 3D Magnetometer (mmc5603) sampled via monotonic circular ring buffers at 50 Hz.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• Geospatial &amp; Vector Mapping: Custom offline slippy tile cache, vector Overpass road network ingestion, and multi-tier geocoding (LocationIQ, Mapbox, Ola Maps, OSM Nominatim).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• Edge AI &amp; Cognitive Copilot: On-device MLP for speed odometry; optional asynchronous Groq LPU (qwen-2.5-32b @ &gt;350 tokens/sec) for conversational terrain guidance.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2. Mathematical State Formulation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x_k = [ p_E  p_N  v_E  v_N  ψ  b_a  b_ω ]^T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• p_E, p_N: Local East-North Cartesian displacements projected from WGS-84 reference origin.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• v_E, v_N: Velocity components constrained by vehicle heading ψ and Edge AI odometry (v_pred).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t>• b_a, b_ω: Online dynamic accelerometer and gyroscope drift bias states calibrated during clear-sky conditions and locked during operational mode.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376ddd77-8a88-4b14-bb00-315b466090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3611880" cy="2578608"/>
          </a:xfrm>
          <a:prstGeom prst="rect">
            <a:avLst/>
          </a:prstGeom>
        </p:spPr>
      </p:pic>
      <p:pic>
        <p:nvPicPr>
          <p:cNvPr id="17412" name="Picture 17411" descr="0c1d782f-8165-4569-82cc-4af4c4153a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703320"/>
            <a:ext cx="3611880" cy="257860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001000" y="3703320"/>
            <a:ext cx="3401568" cy="2578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Sensor Fusion Flow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3-Axis Accel + Gyro + Magnetometer (50 Hz)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Monotonic Ring Buffer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Tilt Compensation / True Heading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EdgeKinematicsAi MLP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Forward Speed Regression (v_pred)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7-State EKF + GNSS Quality Monitor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Non-Holonomic Constraints (Lateral Velocity = 0)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OfflineRoadRouter (Dijkstra/A*)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t>→ Smooth Trajectory + Turn-by-Turn Guidance HUD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6576" rIns="36576" tIns="27432" bIns="27432" anchor="t"/>
          <a:lstStyle/>
          <a:p>
            <a:pPr eaLnBrk="1" hangingPunct="1" algn="ctr">
              <a:spcAft>
                <a:spcPts val="15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Feasibility Analysis, Real-World Benchmarks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280160"/>
            <a:ext cx="75438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rIns="36576" tIns="27432" bIns="27432" anchor="t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Char char="•"/>
              <a:tabLst/>
              <a:defRPr sz="780" b="0">
                <a:solidFill>
                  <a:srgbClr val="000000"/>
                </a:solidFill>
                <a:latin typeface="Arial"/>
              </a:defRPr>
            </a:pPr>
            <a:r>
              <a:t>1. Hardware &amp; Operational Feasibility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100% Commercial Off-The-Shelf (COTS) Compatible: Tested and verified on real physical smartphones (Realme 12 5G RMX3870 running Android 16). Runs out-of-the-box without root permissions, external dongles, or vehicle CAN-bus wiring.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Ultra-Low Compute Latency: On-device Edge AI kinematics inference executes in &lt; 0.45 ms per cycle on low-power ARM Cortex cores.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Battery &amp; Storage Efficiency: Total app power draw is &lt; 2.2% battery/hour in active navigation. Regional offline vector road networks and raster tiles consume &lt; 55 MB per district.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2. Risk Assessment &amp; Engineering Mitigation Matrix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Stationary Speed Jitter → Doppler Speed Authority &amp; IMU Rest Lock: Hardware Doppler clamped ≤ 0.40 m/s → 0.0 km/h; IMU variance check (σ_a² &lt; 0.05) holds rock-solid 0.0 km/h.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Camera &amp; Dot Desync → Continuous Follow-Me Tracking &amp; Snap-on-Enable: Map camera follows vehicle continuously in free-drive and navigation; floating cyan Re-Center button appears on manual pan.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Map Visual Clutter → Clean Map Mode: Trajectory polylines suppressed by default (showTraceLines: false) with one-touch memory purge.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Urban Canyon GPS Outage → Expanded Reliability Gate: Tolerance expanded to 80m (100m when moving) and EKF re-anchors if displaced &gt;80m.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Continuous Calibration Drift → Gated Calibration Engine: Calibration active only for 1st 10 km or 100 km milestone cycles; baselines strictly locked during operational cruising.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t>• Total Radio Blackout (No GPS, No Data) → 100% Off-Grid Predictive Engine: EKF + Edge AI regression advances dead reckoning position along road vectors even with zero GPS and zero cellular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c1d782f-8165-4569-82cc-4af4c4153a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3429000" cy="489204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8275320" y="6327648"/>
            <a:ext cx="33375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spcAft>
                <a:spcPts val="150"/>
              </a:spcAft>
              <a:defRPr sz="750" b="0">
                <a:solidFill>
                  <a:srgbClr val="464646"/>
                </a:solidFill>
                <a:latin typeface="Arial"/>
              </a:defRPr>
            </a:pPr>
            <a:r>
              <a:t>EKF &amp; Sensor Diagnostics — prototype evidence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6576" rIns="36576" tIns="27432" bIns="27432" anchor="t"/>
          <a:lstStyle/>
          <a:p>
            <a:pPr eaLnBrk="1" hangingPunct="1" algn="ctr">
              <a:spcAft>
                <a:spcPts val="150"/>
              </a:spcAft>
              <a:defRPr sz="1850" b="1">
                <a:solidFill>
                  <a:srgbClr val="000000"/>
                </a:solidFill>
                <a:latin typeface="Arial"/>
              </a:defRPr>
            </a:pPr>
            <a:r>
              <a:t>Strategic Defense Alignment, Civilian Mobility Impact &amp; Scalability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280160"/>
            <a:ext cx="11109960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rIns="36576" tIns="27432" bIns="27432" anchor="t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="0">
                <a:solidFill>
                  <a:srgbClr val="000000"/>
                </a:solidFill>
                <a:latin typeface="Arial"/>
              </a:defRPr>
            </a:pPr>
            <a:r>
              <a:t>1. Strategic Defense &amp; Aerospace Impact (ISRO Problem Alignment)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Electronic Warfare (EW) Resilient: Maintains tactical unit and supply convoy navigation during hostile GPS spoofing or satellite denial without requiring $30,000+ defense-grade INS hardware.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Zero RF Signature (Passive Stealth): Operates 100% passively on onboard MEMS sensors and local storage, emitting zero radio frequency signals detectable by enemy electronic surveillance.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NavIC Native Synergy: Built to natively ingest Indian Regional Navigation Satellite System (NavIC) L5 and S-band ground truth fixes for national self-reliance (Atmanirbhar Bharat).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2. Civilian, Commercial &amp; Emergency Mobility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Uninterrupted Tunnel &amp; Subterranean Transit: Continuous navigation through highway tunnels (e.g., Atal Tunnel, Chenani-Nashri), subterranean metro routes, and multi-level underground parking lots.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Emergency Medical Services (Ambulances): Prevents navigation freeze when ambulances enter dense high-rise hospital complexes or concrete urban corridors.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Zero Marginal Cost Deployment: Can be deployed to millions of commercial vehicles, defense personnel, and delivery fleets simply by installing the OffNav.apk.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3. Scalability &amp; Extensibility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Cross-Platform Architecture: Engineered in modular Flutter/Dart, seamlessly portable across Android, iOS, and embedded automotive infotainment systems (Android Automotive OS).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• International Operability: Works anywhere globally with downloaded regional OpenStreetMap vector tiles and AI-powered international query classification.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6576" rIns="36576" tIns="27432" bIns="27432" anchor="t"/>
          <a:lstStyle/>
          <a:p>
            <a:pPr eaLnBrk="1" hangingPunct="1" algn="ctr">
              <a:spcAft>
                <a:spcPts val="150"/>
              </a:spcAft>
              <a:defRPr sz="1850" b="1">
                <a:solidFill>
                  <a:srgbClr val="000000"/>
                </a:solidFill>
                <a:latin typeface="Arial"/>
              </a:defRPr>
            </a:pPr>
            <a:r>
              <a:t>Scientific Foundation, Literature Citations &amp; Verification Standards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280160"/>
            <a:ext cx="11109960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rIns="36576" tIns="27432" bIns="27432" anchor="t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0">
                <a:solidFill>
                  <a:srgbClr val="000000"/>
                </a:solidFill>
                <a:latin typeface="Arial"/>
              </a:defRPr>
            </a:pPr>
            <a:r>
              <a:t>1. Academic Research &amp; Benchmark Datasets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Oxford IO-VNBD Benchmark: Inertial and Odometry Dataset for Land Vehicle Positioning (Oxford Robotics Institute). Serves as the primary ground-truth benchmark for training and validating OffNav’s EdgeKinematicsAi model.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Non-Holonomic Land Vehicle Constraints: D. Wang, et al., "GPS/INS Integration with Non-Holonomic Constraints and Virtual Odometer for Land Vehicles", IEEE Transactions on Intelligent Transportation Systems, Vol. 16, Issue 4.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Extended Kalman Filtering for Aided Navigation: Farrell, J. A., "Aided Navigation: GPS with High Rate Sensors", McGraw-Hill Aerospace Engineering Series.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2. Satellite Navigation &amp; Geospatial Standards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ISRO IRNSS / NavIC Signal-in-Space ICD: Indian Space Research Organisation technical specification for civilian NavIC positioning integration.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WGS-84 Ellipsoidal Geodetic Model: Mathematical conversion standards for ellipsoidal latitude/longitude to local Cartesian East-North-Up coordinate frames.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OpenStreetMap &amp; OSRM Open Routing Specifications: Standardized vector topological schemas for arterial road network modeling and Dijkstra/A* heuristic graph pathfinding.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3. Project Source Code &amp; Production Build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OffNav Production Repository: idr_navigation_app (Flutter 3.38 / Dart 3.10 / Impeller Vulkan engine).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Automated Test Validation: 23/23 Automated unit tests passing (flutter test exit code 0).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t>• Verified Production Artifact: c:\Users\dudet\Downloads\MISSIONSIH2K26\OffNav.apk &amp; ISRO_IDR_Navigation.apk (Validated on Realme 12 5G / Android 16 / API 36).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502920" y="58704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1">
                <a:solidFill>
                  <a:srgbClr val="000000"/>
                </a:solidFill>
                <a:latin typeface="Arial"/>
              </a:rPr>
              <a:t>4. Prototype &amp; Demonstration Evidence: </a:t>
            </a:r>
            <a:r>
              <a:rPr sz="950" u="sng">
                <a:solidFill>
                  <a:srgbClr val="0066CC"/>
                </a:solidFill>
                <a:latin typeface="Arial"/>
                <a:hlinkClick r:id="rId4"/>
              </a:rPr>
              <a:t>Complete OffNav prototype screenshots &amp; technical evidence — Google Drive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