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0" r:id="rId3"/>
    <p:sldId id="281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 wrap="square" lIns="36576" tIns="27432" rIns="36576" bIns="27432" anchor="t"/>
          <a:lstStyle/>
          <a:p>
            <a:pPr algn="ctr">
              <a:spcAft>
                <a:spcPts val="150"/>
              </a:spcAft>
              <a:defRPr sz="2500" b="1">
                <a:solidFill>
                  <a:srgbClr val="000000"/>
                </a:solidFill>
                <a:latin typeface="Arial"/>
              </a:defRPr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 wrap="square" lIns="36576" tIns="27432" rIns="36576" bIns="27432" anchor="t"/>
          <a:lstStyle/>
          <a:p>
            <a:pPr algn="ctr">
              <a:spcAft>
                <a:spcPts val="150"/>
              </a:spcAft>
              <a:defRPr sz="2200" b="1">
                <a:solidFill>
                  <a:srgbClr val="000000"/>
                </a:solidFill>
                <a:latin typeface="Arial"/>
              </a:defRPr>
            </a:pPr>
            <a:br>
              <a:rPr lang="en-IN" dirty="0"/>
            </a:br>
            <a:br>
              <a:rPr lang="en-IN" sz="3600" dirty="0"/>
            </a:br>
            <a:r>
              <a:rPr sz="3600" dirty="0"/>
              <a:t>SMART INDIA HACKATHON 2026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 sz="1400" dirty="0"/>
              <a:t>Problem Statement ID – SIH26168</a:t>
            </a:r>
            <a:endParaRPr lang="en-US" sz="1400" dirty="0"/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 sz="1400" dirty="0"/>
              <a:t>Problem Statement Title- AI-ML Based Intelligent Dead Reckoning System for Seamless Navigation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 sz="1400" dirty="0"/>
              <a:t>Theme- </a:t>
            </a:r>
            <a:r>
              <a:rPr lang="en-IN" sz="1400" dirty="0"/>
              <a:t>Smart Vehicles</a:t>
            </a:r>
            <a:endParaRPr sz="1400" dirty="0"/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 sz="1400" dirty="0"/>
              <a:t>PS Category- Software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 sz="1400" dirty="0"/>
              <a:t>Organization / Ministry- Indian Space Research </a:t>
            </a:r>
            <a:r>
              <a:rPr sz="1400" dirty="0" err="1"/>
              <a:t>Organisation</a:t>
            </a:r>
            <a:r>
              <a:rPr sz="1400" dirty="0"/>
              <a:t> (ISRO)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 sz="1400" dirty="0"/>
              <a:t>Team ID- [Your Registered Team ID]</a:t>
            </a:r>
          </a:p>
          <a:p>
            <a:pPr>
              <a:spcAft>
                <a:spcPts val="400"/>
              </a:spcAft>
              <a:defRPr sz="1300">
                <a:latin typeface="Arial"/>
              </a:defRPr>
            </a:pPr>
            <a:r>
              <a:rPr sz="1400" dirty="0"/>
              <a:t>Team Name- </a:t>
            </a:r>
            <a:r>
              <a:rPr lang="en-IN" sz="1400" dirty="0" err="1"/>
              <a:t>Techtrons</a:t>
            </a:r>
            <a:endParaRPr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57200" y="4736592"/>
            <a:ext cx="5989320" cy="917174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50"/>
              </a:spcAft>
              <a:defRPr sz="1050" b="1">
                <a:solidFill>
                  <a:srgbClr val="000000"/>
                </a:solidFill>
                <a:latin typeface="Arial"/>
              </a:defRPr>
            </a:pPr>
            <a:r>
              <a:rPr sz="1400" dirty="0" err="1"/>
              <a:t>OffNav</a:t>
            </a:r>
            <a:r>
              <a:rPr sz="1400" dirty="0"/>
              <a:t> (v7.0): Defense-Grade Software-Defined Intelligent Dead Reckoning (IDR) with 100% Off-Grid Edge AI, Gated 100 km Calibration Lifecycle, Autonomous Offline Road Routing, and Sub-Meter Precision on Commodity Smartphones.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76981" y="136522"/>
            <a:ext cx="11985523" cy="1125349"/>
          </a:xfrm>
        </p:spPr>
        <p:txBody>
          <a:bodyPr wrap="square" lIns="36576" tIns="27432" rIns="36576" bIns="27432" anchor="t"/>
          <a:lstStyle/>
          <a:p>
            <a:pPr algn="ctr" eaLnBrk="1" hangingPunct="1">
              <a:spcAft>
                <a:spcPts val="15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rPr dirty="0"/>
              <a:t>System Architecture, Sensor Fusion Pipeline &amp; Full-Stack Implementation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048" y="1261872"/>
            <a:ext cx="11109960" cy="23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" tIns="27432" rIns="36576" bIns="27432" anchor="t">
            <a:spAutoFit/>
          </a:bodyPr>
          <a:lstStyle/>
          <a:p>
            <a:pPr marL="342900" indent="-342900" algn="just">
              <a:spcAft>
                <a:spcPts val="150"/>
              </a:spcAft>
              <a:buFont typeface="Arial" panose="020B0604020202020204" pitchFamily="34" charset="0"/>
              <a:buChar char="•"/>
              <a:defRPr sz="840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1. Core Technical Stack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• UI &amp; Graphics: Flutter 3.38+ / Dart 3.10+ backed by the Impeller Vulkan GPU engine (Android 16 / API 36) rendering 60–120 FPS high-refresh navigation.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• Sensor Ingestion Pipeline: Hardware Accelerometer, Gyroscope, and 3D Magnetometer (mmc5603) sampled via monotonic circular ring buffers at 50 Hz.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• Geospatial &amp; Vector Mapping: Custom offline </a:t>
            </a:r>
            <a:r>
              <a:rPr sz="1100" dirty="0" err="1"/>
              <a:t>slippy</a:t>
            </a:r>
            <a:r>
              <a:rPr sz="1100" dirty="0"/>
              <a:t> tile cache, vector Overpass road network ingestion, and multi-tier geocoding (</a:t>
            </a:r>
            <a:r>
              <a:rPr sz="1100" dirty="0" err="1"/>
              <a:t>LocationIQ</a:t>
            </a:r>
            <a:r>
              <a:rPr sz="1100" dirty="0"/>
              <a:t>, </a:t>
            </a:r>
            <a:r>
              <a:rPr sz="1100" dirty="0" err="1"/>
              <a:t>Mapbox</a:t>
            </a:r>
            <a:r>
              <a:rPr sz="1100" dirty="0"/>
              <a:t>, Ola Maps, OSM </a:t>
            </a:r>
            <a:r>
              <a:rPr sz="1100" dirty="0" err="1"/>
              <a:t>Nominatim</a:t>
            </a:r>
            <a:r>
              <a:rPr sz="1100" dirty="0"/>
              <a:t>).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• Edge AI &amp; Cognitive Copilot: On-device MLP for speed odometry; optional asynchronous </a:t>
            </a:r>
            <a:r>
              <a:rPr sz="1100" dirty="0" err="1"/>
              <a:t>Groq</a:t>
            </a:r>
            <a:r>
              <a:rPr sz="1100" dirty="0"/>
              <a:t> LPU (qwen-2.5-32b @ &gt;350 tokens/sec) for conversational terrain guidance.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endParaRPr sz="1100" dirty="0"/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2. </a:t>
            </a:r>
            <a:r>
              <a:rPr sz="1200" dirty="0"/>
              <a:t>Mathematical</a:t>
            </a:r>
            <a:r>
              <a:rPr sz="1100" dirty="0"/>
              <a:t> State Formulation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rPr sz="1100" dirty="0" err="1"/>
              <a:t>x_k</a:t>
            </a:r>
            <a:r>
              <a:rPr sz="1100" dirty="0"/>
              <a:t> = [ </a:t>
            </a:r>
            <a:r>
              <a:rPr sz="1100" dirty="0" err="1"/>
              <a:t>p_E</a:t>
            </a:r>
            <a:r>
              <a:rPr sz="1100" dirty="0"/>
              <a:t>  </a:t>
            </a:r>
            <a:r>
              <a:rPr sz="1100" dirty="0" err="1"/>
              <a:t>p_N</a:t>
            </a:r>
            <a:r>
              <a:rPr sz="1100" dirty="0"/>
              <a:t>  </a:t>
            </a:r>
            <a:r>
              <a:rPr sz="1100" dirty="0" err="1"/>
              <a:t>v_E</a:t>
            </a:r>
            <a:r>
              <a:rPr sz="1100" dirty="0"/>
              <a:t>  </a:t>
            </a:r>
            <a:r>
              <a:rPr sz="1100" dirty="0" err="1"/>
              <a:t>v_N</a:t>
            </a:r>
            <a:r>
              <a:rPr sz="1100" dirty="0"/>
              <a:t>  ψ  </a:t>
            </a:r>
            <a:r>
              <a:rPr sz="1100" dirty="0" err="1"/>
              <a:t>b_a</a:t>
            </a:r>
            <a:r>
              <a:rPr sz="1100" dirty="0"/>
              <a:t>  </a:t>
            </a:r>
            <a:r>
              <a:rPr sz="1100" dirty="0" err="1"/>
              <a:t>b_ω</a:t>
            </a:r>
            <a:r>
              <a:rPr sz="1100" dirty="0"/>
              <a:t> ]^T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• </a:t>
            </a:r>
            <a:r>
              <a:rPr sz="1100" dirty="0" err="1"/>
              <a:t>p_E</a:t>
            </a:r>
            <a:r>
              <a:rPr sz="1100" dirty="0"/>
              <a:t>, </a:t>
            </a:r>
            <a:r>
              <a:rPr sz="1100" dirty="0" err="1"/>
              <a:t>p_N</a:t>
            </a:r>
            <a:r>
              <a:rPr sz="1100" dirty="0"/>
              <a:t>: Local East-North Cartesian displacements projected from WGS-84 reference origin.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• </a:t>
            </a:r>
            <a:r>
              <a:rPr sz="1100" dirty="0" err="1"/>
              <a:t>v_E</a:t>
            </a:r>
            <a:r>
              <a:rPr sz="1100" dirty="0"/>
              <a:t>, </a:t>
            </a:r>
            <a:r>
              <a:rPr sz="1100" dirty="0" err="1"/>
              <a:t>v_N</a:t>
            </a:r>
            <a:r>
              <a:rPr sz="1100" dirty="0"/>
              <a:t>: Velocity components constrained by vehicle heading ψ and Edge AI odometry (</a:t>
            </a:r>
            <a:r>
              <a:rPr sz="1100" dirty="0" err="1"/>
              <a:t>v_pred</a:t>
            </a:r>
            <a:r>
              <a:rPr sz="1100" dirty="0"/>
              <a:t>).</a:t>
            </a:r>
          </a:p>
          <a:p>
            <a:pPr>
              <a:spcAft>
                <a:spcPts val="150"/>
              </a:spcAft>
              <a:defRPr sz="840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• </a:t>
            </a:r>
            <a:r>
              <a:rPr sz="1100" dirty="0" err="1"/>
              <a:t>b_a</a:t>
            </a:r>
            <a:r>
              <a:rPr sz="1100" dirty="0"/>
              <a:t>, </a:t>
            </a:r>
            <a:r>
              <a:rPr sz="1100" dirty="0" err="1"/>
              <a:t>b_ω</a:t>
            </a:r>
            <a:r>
              <a:rPr sz="1100" dirty="0"/>
              <a:t>: Online dynamic accelerometer and gyroscope drift bias states calibrated during clear-sky conditions and locked during operational mode.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1450" y="325080"/>
            <a:ext cx="1538356" cy="93679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Techtrons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386" y="450625"/>
            <a:ext cx="1853549" cy="936792"/>
          </a:xfrm>
          <a:prstGeom prst="rect">
            <a:avLst/>
          </a:prstGeom>
        </p:spPr>
      </p:pic>
      <p:pic>
        <p:nvPicPr>
          <p:cNvPr id="17411" name="Picture 17410" descr="376ddd77-8a88-4b14-bb00-315b466090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703320"/>
            <a:ext cx="3611880" cy="2578608"/>
          </a:xfrm>
          <a:prstGeom prst="rect">
            <a:avLst/>
          </a:prstGeom>
        </p:spPr>
      </p:pic>
      <p:pic>
        <p:nvPicPr>
          <p:cNvPr id="17412" name="Picture 17411" descr="0c1d782f-8165-4569-82cc-4af4c4153a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3703320"/>
            <a:ext cx="3611880" cy="2578608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8001000" y="3703320"/>
            <a:ext cx="3401568" cy="1979003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Sensor Fusion Flow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3-Axis Accel + Gyro + Magnetometer (50 Hz)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→ Monotonic Ring Buffer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→ Tilt Compensation / True Heading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→ </a:t>
            </a:r>
            <a:r>
              <a:rPr sz="1100" dirty="0" err="1"/>
              <a:t>EdgeKinematicsAi</a:t>
            </a:r>
            <a:r>
              <a:rPr sz="1100" dirty="0"/>
              <a:t> MLP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→ Forward Speed Regression (</a:t>
            </a:r>
            <a:r>
              <a:rPr sz="1100" dirty="0" err="1"/>
              <a:t>v_pred</a:t>
            </a:r>
            <a:r>
              <a:rPr sz="1100" dirty="0"/>
              <a:t>)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→ 7-State EKF + GNSS Quality Monitor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→ Non-Holonomic Constraints (Lateral Velocity = 0)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→ </a:t>
            </a:r>
            <a:r>
              <a:rPr sz="1100" dirty="0" err="1"/>
              <a:t>OfflineRoadRouter</a:t>
            </a:r>
            <a:r>
              <a:rPr sz="1100" dirty="0"/>
              <a:t> (Dijkstra/A*)</a:t>
            </a:r>
          </a:p>
          <a:p>
            <a:pPr>
              <a:spcAft>
                <a:spcPts val="150"/>
              </a:spcAft>
              <a:defRPr sz="819" b="0">
                <a:solidFill>
                  <a:srgbClr val="000000"/>
                </a:solidFill>
                <a:latin typeface="Arial"/>
              </a:defRPr>
            </a:pPr>
            <a:r>
              <a:rPr sz="1100" dirty="0"/>
              <a:t>→ Smooth Trajectory + Turn-by-Turn Guidance HUD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50632" y="0"/>
            <a:ext cx="10109368" cy="1143000"/>
          </a:xfrm>
        </p:spPr>
        <p:txBody>
          <a:bodyPr wrap="square" lIns="36576" tIns="27432" rIns="36576" bIns="27432" anchor="t"/>
          <a:lstStyle/>
          <a:p>
            <a:pPr algn="ctr" eaLnBrk="1" hangingPunct="1">
              <a:spcAft>
                <a:spcPts val="150"/>
              </a:spcAft>
              <a:defRPr sz="1700" b="1">
                <a:solidFill>
                  <a:srgbClr val="000000"/>
                </a:solidFill>
                <a:latin typeface="Arial"/>
              </a:defRPr>
            </a:pPr>
            <a:r>
              <a:rPr sz="1800" dirty="0" err="1"/>
              <a:t>OffNav</a:t>
            </a:r>
            <a:r>
              <a:rPr sz="1800" dirty="0"/>
              <a:t>: Autonomous Intelligent Dead Reckoning &amp; 100% Off-Grid Navigation for GNSS-Denied Environments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25363" y="881144"/>
            <a:ext cx="9146456" cy="541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" tIns="27432" rIns="36576" bIns="27432" anchor="t">
            <a:spAutoFit/>
          </a:bodyPr>
          <a:lstStyle/>
          <a:p>
            <a:r>
              <a:rPr lang="en-IN" sz="1200" b="1" dirty="0"/>
              <a:t>1. Core Solution Overview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100% on-device, phone-native navigation</a:t>
            </a:r>
            <a:r>
              <a:rPr lang="en-IN" sz="1200" dirty="0"/>
              <a:t> providing continuous sub-meter positioning when GNSS fails due to EW jamming, tunnels, urban canyons, or dense forests.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No expensive external hardware:</a:t>
            </a:r>
            <a:r>
              <a:rPr lang="en-IN" sz="1200" dirty="0"/>
              <a:t> eliminates $30,000+ military INS and wheel odometers using commodity phone MEMS sensors and synthetic Edge AI odometry.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100% Off-Grid:</a:t>
            </a:r>
            <a:r>
              <a:rPr lang="en-IN" sz="1200" dirty="0"/>
              <a:t> operates in complete radio silence with </a:t>
            </a:r>
            <a:r>
              <a:rPr lang="en-IN" sz="1200" b="1" dirty="0"/>
              <a:t>zero GNSS, cellular, or cloud API dependency</a:t>
            </a:r>
            <a:r>
              <a:rPr lang="en-IN" sz="1200" dirty="0"/>
              <a:t>.</a:t>
            </a:r>
          </a:p>
          <a:p>
            <a:endParaRPr lang="en-IN" sz="1200" dirty="0"/>
          </a:p>
          <a:p>
            <a:r>
              <a:rPr lang="en-IN" sz="1200" b="1" dirty="0"/>
              <a:t>2. Quad-Phase Operational Lifecycle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Phase 1 — First-Time 10 km GPS Baseline Learning:</a:t>
            </a:r>
            <a:r>
              <a:rPr lang="en-IN" sz="1200" dirty="0"/>
              <a:t> With GPS, 5 Hz GNSS trains the on-device AI and learns accelerometer/gyroscope biases (</a:t>
            </a:r>
            <a:r>
              <a:rPr lang="en-IN" sz="1200" b="1" dirty="0"/>
              <a:t>bₐ, </a:t>
            </a:r>
            <a:r>
              <a:rPr lang="en-IN" sz="1200" b="1" dirty="0" err="1"/>
              <a:t>bω</a:t>
            </a:r>
            <a:r>
              <a:rPr lang="en-IN" sz="1200" dirty="0"/>
              <a:t>). Without GPS, static rest-</a:t>
            </a:r>
            <a:r>
              <a:rPr lang="en-IN" sz="1200" dirty="0" err="1"/>
              <a:t>leveling</a:t>
            </a:r>
            <a:r>
              <a:rPr lang="en-IN" sz="1200" dirty="0"/>
              <a:t> calibrates tilt and zero-rate gyro drift.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Phase 2 — Calibrated Operational Mode:</a:t>
            </a:r>
            <a:r>
              <a:rPr lang="en-IN" sz="1200" dirty="0"/>
              <a:t> After the initial 10 km, calibration and AI weights are </a:t>
            </a:r>
            <a:r>
              <a:rPr lang="en-IN" sz="1200" b="1" dirty="0"/>
              <a:t>locked/frozen</a:t>
            </a:r>
            <a:r>
              <a:rPr lang="en-IN" sz="1200" dirty="0"/>
              <a:t>, preventing overfitting and baseline corruption during normal driving.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Phase 3 — Periodic 100 km / Manual Recalibration:</a:t>
            </a:r>
            <a:r>
              <a:rPr lang="en-IN" sz="1200" dirty="0"/>
              <a:t> Recalibration occurs only every </a:t>
            </a:r>
            <a:r>
              <a:rPr lang="en-IN" sz="1200" b="1" dirty="0"/>
              <a:t>100 km or 72 hours</a:t>
            </a:r>
            <a:r>
              <a:rPr lang="en-IN" sz="1200" dirty="0"/>
              <a:t>, or via </a:t>
            </a:r>
            <a:r>
              <a:rPr lang="en-IN" sz="1200" b="1" dirty="0"/>
              <a:t>“RECALIBRATE NOW”</a:t>
            </a:r>
            <a:r>
              <a:rPr lang="en-IN" sz="1200" dirty="0"/>
              <a:t>, using an active 5 km calibration window before re-locking.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Phase 4 — Autonomous GNSS Blackout / 100% Off-Grid IDR:</a:t>
            </a:r>
            <a:r>
              <a:rPr lang="en-IN" sz="1200" dirty="0"/>
              <a:t> During satellite loss, a </a:t>
            </a:r>
            <a:r>
              <a:rPr lang="en-IN" sz="1200" b="1" dirty="0"/>
              <a:t>7-State EKF</a:t>
            </a:r>
            <a:r>
              <a:rPr lang="en-IN" sz="1200" dirty="0"/>
              <a:t> fuses 6-axis IMU patterns with </a:t>
            </a:r>
            <a:r>
              <a:rPr lang="en-IN" sz="1200" b="1" dirty="0" err="1"/>
              <a:t>EdgeKinematicsAi</a:t>
            </a:r>
            <a:r>
              <a:rPr lang="en-IN" sz="1200" dirty="0"/>
              <a:t> velocity regression and enforces </a:t>
            </a:r>
            <a:r>
              <a:rPr lang="en-IN" sz="1200" b="1" dirty="0"/>
              <a:t>NHC (</a:t>
            </a:r>
            <a:r>
              <a:rPr lang="en-IN" sz="1200" b="1" dirty="0" err="1"/>
              <a:t>v_lat</a:t>
            </a:r>
            <a:r>
              <a:rPr lang="en-IN" sz="1200" b="1" dirty="0"/>
              <a:t> = 0)</a:t>
            </a:r>
            <a:r>
              <a:rPr lang="en-IN" sz="1200" dirty="0"/>
              <a:t> to continuously advance position along the road network without runaway drift.</a:t>
            </a:r>
          </a:p>
          <a:p>
            <a:endParaRPr lang="en-IN" sz="1200" dirty="0"/>
          </a:p>
          <a:p>
            <a:r>
              <a:rPr lang="en-IN" sz="1200" b="1" dirty="0"/>
              <a:t>3. Key Disruptive Innovations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Oxford IO-VNBD Edge AI Kinematics (</a:t>
            </a:r>
            <a:r>
              <a:rPr lang="en-IN" sz="1200" b="1" dirty="0" err="1"/>
              <a:t>EdgeKinematicsAi</a:t>
            </a:r>
            <a:r>
              <a:rPr lang="en-IN" sz="1200" b="1" dirty="0"/>
              <a:t>):</a:t>
            </a:r>
            <a:r>
              <a:rPr lang="en-IN" sz="1200" dirty="0"/>
              <a:t> On-device neural network at </a:t>
            </a:r>
            <a:r>
              <a:rPr lang="en-IN" sz="1200" b="1" dirty="0"/>
              <a:t>50 Hz (&lt;0.45 </a:t>
            </a:r>
            <a:r>
              <a:rPr lang="en-IN" sz="1200" b="1" dirty="0" err="1"/>
              <a:t>ms</a:t>
            </a:r>
            <a:r>
              <a:rPr lang="en-IN" sz="1200" b="1" dirty="0"/>
              <a:t> latency)</a:t>
            </a:r>
            <a:r>
              <a:rPr lang="en-IN" sz="1200" dirty="0"/>
              <a:t> predicts forward vehicle speed from 6-axis chassis vibrations without double-integration error.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Stationary Speed Authority &amp; Rest Lock:</a:t>
            </a:r>
            <a:r>
              <a:rPr lang="en-IN" sz="1200" dirty="0"/>
              <a:t> Doppler speed is clamped at </a:t>
            </a:r>
            <a:r>
              <a:rPr lang="en-IN" sz="1200" b="1" dirty="0"/>
              <a:t>≤0.40 m/s → 0.0 km/h</a:t>
            </a:r>
            <a:r>
              <a:rPr lang="en-IN" sz="1200" dirty="0"/>
              <a:t>, with IMU variance gating (</a:t>
            </a:r>
            <a:r>
              <a:rPr lang="en-IN" sz="1200" b="1" dirty="0"/>
              <a:t>σₐ² &lt; 0.05, |</a:t>
            </a:r>
            <a:r>
              <a:rPr lang="en-IN" sz="1200" b="1" dirty="0" err="1"/>
              <a:t>a_fwd</a:t>
            </a:r>
            <a:r>
              <a:rPr lang="en-IN" sz="1200" b="1" dirty="0"/>
              <a:t>| &lt; 0.10 m/s²</a:t>
            </a:r>
            <a:r>
              <a:rPr lang="en-IN" sz="1200" dirty="0"/>
              <a:t>) to eliminate phantom speed when stopped.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Continuous Follow-Me Tracking &amp; Clean Vector Map:</a:t>
            </a:r>
            <a:r>
              <a:rPr lang="en-IN" sz="1200" dirty="0"/>
              <a:t> Synchronized camera follow-me mode, glowing cyan </a:t>
            </a:r>
            <a:r>
              <a:rPr lang="en-IN" sz="1200" b="1" dirty="0"/>
              <a:t>Re-</a:t>
            </a:r>
            <a:r>
              <a:rPr lang="en-IN" sz="1200" b="1" dirty="0" err="1"/>
              <a:t>Center</a:t>
            </a:r>
            <a:r>
              <a:rPr lang="en-IN" sz="1200" dirty="0"/>
              <a:t> control, and removal of historical breadcrumb traces provide a clean navigation interface.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Resilient Urban Canyon Signal Ingestion:</a:t>
            </a:r>
            <a:r>
              <a:rPr lang="en-IN" sz="1200" dirty="0"/>
              <a:t> </a:t>
            </a:r>
            <a:r>
              <a:rPr lang="en-IN" sz="1200" b="1" dirty="0"/>
              <a:t>80–100 m accuracy tolerance + EKF re-anchoring</a:t>
            </a:r>
            <a:r>
              <a:rPr lang="en-IN" sz="1200" dirty="0"/>
              <a:t> prevents false GPS-loss triggers in dense Indian high-rise corridors.</a:t>
            </a:r>
          </a:p>
          <a:p>
            <a:r>
              <a:rPr lang="en-IN" sz="1200" dirty="0"/>
              <a:t>• </a:t>
            </a:r>
            <a:r>
              <a:rPr lang="en-IN" sz="1200" b="1" dirty="0"/>
              <a:t>Autonomous Vector Road Network Router (</a:t>
            </a:r>
            <a:r>
              <a:rPr lang="en-IN" sz="1200" b="1" dirty="0" err="1"/>
              <a:t>OfflineRoadRouter</a:t>
            </a:r>
            <a:r>
              <a:rPr lang="en-IN" sz="1200" b="1" dirty="0"/>
              <a:t>):</a:t>
            </a:r>
            <a:r>
              <a:rPr lang="en-IN" sz="1200" dirty="0"/>
              <a:t> Dynamic </a:t>
            </a:r>
            <a:r>
              <a:rPr lang="en-IN" sz="1200" i="1" dirty="0"/>
              <a:t>A/Dijkstra</a:t>
            </a:r>
            <a:r>
              <a:rPr lang="en-IN" sz="1200" dirty="0"/>
              <a:t>* routing over downloaded </a:t>
            </a:r>
            <a:r>
              <a:rPr lang="en-IN" sz="1200" b="1" dirty="0"/>
              <a:t>OpenStreetMap</a:t>
            </a:r>
            <a:r>
              <a:rPr lang="en-IN" sz="1200" dirty="0"/>
              <a:t> arterial/highway networks with realistic road curves and turns.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5363" y="403124"/>
            <a:ext cx="1508859" cy="43261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Techtrons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0" y="136522"/>
            <a:ext cx="1981368" cy="925815"/>
          </a:xfrm>
          <a:prstGeom prst="rect">
            <a:avLst/>
          </a:prstGeom>
        </p:spPr>
      </p:pic>
      <p:pic>
        <p:nvPicPr>
          <p:cNvPr id="15363" name="Picture 15362" descr="b4617e9e-0321-4c5f-af90-befaf9f697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974" y="1143000"/>
            <a:ext cx="2621524" cy="5166360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8275320" y="6327648"/>
            <a:ext cx="3337560" cy="228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150"/>
              </a:spcAft>
              <a:defRPr sz="750" b="0">
                <a:solidFill>
                  <a:srgbClr val="464646"/>
                </a:solidFill>
                <a:latin typeface="Arial"/>
              </a:defRPr>
            </a:pPr>
            <a:r>
              <a:rPr dirty="0" err="1"/>
              <a:t>OffNav</a:t>
            </a:r>
            <a:r>
              <a:rPr dirty="0"/>
              <a:t> Settings &amp; Config — prototype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68827" y="136521"/>
            <a:ext cx="12191999" cy="958853"/>
          </a:xfrm>
        </p:spPr>
        <p:txBody>
          <a:bodyPr wrap="square" lIns="36576" tIns="27432" rIns="36576" bIns="27432" anchor="t"/>
          <a:lstStyle/>
          <a:p>
            <a:pPr algn="ctr" eaLnBrk="1" hangingPunct="1">
              <a:spcAft>
                <a:spcPts val="150"/>
              </a:spcAft>
              <a:defRPr sz="1900" b="1">
                <a:solidFill>
                  <a:srgbClr val="000000"/>
                </a:solidFill>
                <a:latin typeface="Arial"/>
              </a:defRPr>
            </a:pPr>
            <a:r>
              <a:rPr dirty="0"/>
              <a:t>Feasibility Analysis, Real-World Benchmarks &amp; Risk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90501" y="1384032"/>
            <a:ext cx="7543800" cy="4400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" tIns="27432" rIns="36576" bIns="27432" anchor="t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50"/>
              </a:spcAft>
              <a:buClrTx/>
              <a:buSzTx/>
              <a:buFont typeface="Arial" panose="020B0604020202020204" pitchFamily="34" charset="0"/>
              <a:buChar char="•"/>
              <a:tabLst/>
              <a:defRPr sz="78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1. Hardware &amp; Operational Feasibility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100% Commercial Off-The-Shelf (COTS) Compatible: Tested and verified on real physical smartphones (Realme 12 5G RMX3870 running Android 16). Runs out-of-the-box without root permissions, external dongles, or vehicle CAN-bus wiring.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Ultra-Low Compute Latency: On-device Edge AI kinematics inference executes in &lt; 0.45 </a:t>
            </a:r>
            <a:r>
              <a:rPr sz="1200" dirty="0" err="1"/>
              <a:t>ms</a:t>
            </a:r>
            <a:r>
              <a:rPr sz="1200" dirty="0"/>
              <a:t> per cycle on low-power ARM Cortex cores.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Battery &amp; Storage Efficiency: Total app power draw is &lt; 2.2% battery/hour in active navigation. Regional offline vector road networks and raster tiles consume &lt; 55 MB per district.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2. Risk Assessment &amp; Engineering Mitigation Matrix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Stationary Speed Jitter → Doppler Speed Authority &amp; IMU Rest Lock: Hardware Doppler clamped ≤ 0.40 m/s → 0.0 km/h; IMU variance check (σ_a² &lt; 0.05) holds rock-solid 0.0 km/h.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Camera &amp; Dot Desync → Continuous Follow-Me Tracking &amp; Snap-on-Enable: Map camera follows vehicle continuously in free-drive and navigation; floating cyan Re-Center button appears on manual pan.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Map Visual Clutter → Clean Map Mode: Trajectory polylines suppressed by default (</a:t>
            </a:r>
            <a:r>
              <a:rPr sz="1200" dirty="0" err="1"/>
              <a:t>showTraceLines</a:t>
            </a:r>
            <a:r>
              <a:rPr sz="1200" dirty="0"/>
              <a:t>: false) with one-touch memory purge.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Urban Canyon GPS Outage → Expanded Reliability Gate: Tolerance expanded to 80m (100m when moving) and EKF re-anchors if displaced &gt;80m.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Continuous Calibration Drift → Gated Calibration Engine: Calibration active only for 1st 10 km or 100 km milestone cycles; baselines strictly locked during operational cruising.</a:t>
            </a:r>
          </a:p>
          <a:p>
            <a:pPr>
              <a:spcAft>
                <a:spcPts val="150"/>
              </a:spcAft>
              <a:defRPr sz="78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Total Radio Blackout (No GPS, No Data) → 100% Off-Grid Predictive Engine: EKF + Edge AI regression advances dead reckoning position along road vectors even with zero GPS and zero cellular data.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252246"/>
            <a:ext cx="2249850" cy="811591"/>
          </a:xfrm>
          <a:prstGeom prst="rect">
            <a:avLst/>
          </a:prstGeom>
        </p:spPr>
      </p:pic>
      <p:pic>
        <p:nvPicPr>
          <p:cNvPr id="17411" name="Picture 17410" descr="0c1d782f-8165-4569-82cc-4af4c4153a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371600"/>
            <a:ext cx="3429000" cy="4892040"/>
          </a:xfrm>
          <a:prstGeom prst="rect">
            <a:avLst/>
          </a:prstGeom>
        </p:spPr>
      </p:pic>
      <p:sp>
        <p:nvSpPr>
          <p:cNvPr id="2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5363" y="411741"/>
            <a:ext cx="1508859" cy="77475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Techtrons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216311" y="136521"/>
            <a:ext cx="12078537" cy="958853"/>
          </a:xfrm>
        </p:spPr>
        <p:txBody>
          <a:bodyPr wrap="square" lIns="36576" tIns="27432" rIns="36576" bIns="27432" anchor="t"/>
          <a:lstStyle/>
          <a:p>
            <a:pPr algn="ctr" eaLnBrk="1" hangingPunct="1">
              <a:spcAft>
                <a:spcPts val="150"/>
              </a:spcAft>
              <a:defRPr sz="1850" b="1">
                <a:solidFill>
                  <a:srgbClr val="000000"/>
                </a:solidFill>
                <a:latin typeface="Arial"/>
              </a:defRPr>
            </a:pPr>
            <a:r>
              <a:rPr lang="en-IN" sz="2400" dirty="0"/>
              <a:t>Strategic</a:t>
            </a:r>
            <a:r>
              <a:rPr dirty="0"/>
              <a:t> Defense Alignment, Civilian Mobility Impact &amp; Scalability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048" y="1280160"/>
            <a:ext cx="11109960" cy="368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" tIns="27432" rIns="36576" bIns="27432" anchor="t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50"/>
              </a:spcAft>
              <a:buClrTx/>
              <a:buSzTx/>
              <a:buFont typeface="Arial" panose="020B0604020202020204" pitchFamily="34" charset="0"/>
              <a:buChar char="•"/>
              <a:tabLst/>
              <a:defRPr sz="100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1. Strategic Defense &amp; Aerospace Impact (ISRO Problem Alignment)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Electronic Warfare (EW) Resilient: Maintains tactical unit and supply convoy navigation during hostile GPS spoofing or satellite denial without requiring $30,000+ defense-grade INS hardware.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Zero RF Signature (Passive Stealth): Operates 100% passively on onboard MEMS sensors and local storage, emitting zero radio frequency signals detectable by enemy electronic surveillance.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</a:t>
            </a:r>
            <a:r>
              <a:rPr sz="1200" dirty="0" err="1"/>
              <a:t>NavIC</a:t>
            </a:r>
            <a:r>
              <a:rPr sz="1200" dirty="0"/>
              <a:t> Native Synergy: Built to natively ingest Indian Regional Navigation Satellite System (</a:t>
            </a:r>
            <a:r>
              <a:rPr sz="1200" dirty="0" err="1"/>
              <a:t>NavIC</a:t>
            </a:r>
            <a:r>
              <a:rPr sz="1200" dirty="0"/>
              <a:t>) L5 and S-band ground truth fixes for national self-reliance (Atmanirbhar Bharat).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2. Civilian, Commercial &amp; Emergency Mobility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Uninterrupted Tunnel &amp; Subterranean Transit: Continuous navigation through highway tunnels (e.g., Atal Tunnel, Chenani-Nashri), subterranean metro routes, and multi-level underground parking lots.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Emergency Medical Services (Ambulances): Prevents navigation freeze when ambulances enter dense high-rise hospital complexes or concrete urban corridors.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Zero Marginal Cost Deployment: Can be deployed to millions of commercial vehicles, defense personnel, and delivery fleets simply by installing the </a:t>
            </a:r>
            <a:r>
              <a:rPr sz="1200" dirty="0" err="1"/>
              <a:t>OffNav.apk</a:t>
            </a:r>
            <a:r>
              <a:rPr sz="1200" dirty="0"/>
              <a:t>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3. Scalability &amp; Extensibility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Cross-Platform Architecture: Engineered in modular Flutter/Dart, seamlessly portable across Android, iOS, and embedded automotive infotainment systems (Android Automotive OS).</a:t>
            </a:r>
          </a:p>
          <a:p>
            <a:pPr>
              <a:spcAft>
                <a:spcPts val="150"/>
              </a:spcAft>
              <a:defRPr sz="100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International Operability: Works anywhere globally with downloaded regional OpenStreetMap vector tiles and AI-powered international query classification.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8490" y="363794"/>
            <a:ext cx="1543665" cy="69578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Techtrons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5884" y="195589"/>
            <a:ext cx="1824052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47484" y="190963"/>
            <a:ext cx="11729884" cy="1057734"/>
          </a:xfrm>
        </p:spPr>
        <p:txBody>
          <a:bodyPr wrap="square" lIns="36576" tIns="27432" rIns="36576" bIns="27432" anchor="t"/>
          <a:lstStyle/>
          <a:p>
            <a:pPr algn="ctr" eaLnBrk="1" hangingPunct="1">
              <a:spcAft>
                <a:spcPts val="150"/>
              </a:spcAft>
              <a:defRPr sz="1850" b="1">
                <a:solidFill>
                  <a:srgbClr val="000000"/>
                </a:solidFill>
                <a:latin typeface="Arial"/>
              </a:defRPr>
            </a:pPr>
            <a:r>
              <a:rPr dirty="0"/>
              <a:t>Scientific Foundation, Literature Citations &amp; Verification Standards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1116439"/>
            <a:ext cx="11109960" cy="4764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36576" tIns="27432" rIns="36576" bIns="27432" anchor="t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50"/>
              </a:spcAft>
              <a:buClrTx/>
              <a:buSzTx/>
              <a:buFont typeface="Arial" panose="020B0604020202020204" pitchFamily="34" charset="0"/>
              <a:buChar char="•"/>
              <a:tabLst/>
              <a:defRPr sz="95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1. Academic Research &amp; Benchmark Datasets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Oxford IO-VNBD Benchmark: Inertial and Odometry Dataset for Land Vehicle Positioning (Oxford Robotics Institute). Serves as the primary ground-truth benchmark for training and validating </a:t>
            </a:r>
            <a:r>
              <a:rPr sz="1200" dirty="0" err="1"/>
              <a:t>OffNav’s</a:t>
            </a:r>
            <a:r>
              <a:rPr sz="1200" dirty="0"/>
              <a:t> </a:t>
            </a:r>
            <a:r>
              <a:rPr sz="1200" dirty="0" err="1"/>
              <a:t>EdgeKinematicsAi</a:t>
            </a:r>
            <a:r>
              <a:rPr sz="1200" dirty="0"/>
              <a:t> model.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Non-Holonomic Land Vehicle Constraints: D. Wang, et al., "GPS/INS Integration with Non-Holonomic Constraints and Virtual Odometer for Land Vehicles", IEEE Transactions on Intelligent Transportation Systems, Vol. 16, Issue 4.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Extended Kalman Filtering for Aided Navigation: Farrell, J. A., "Aided Navigation: GPS with High Rate Sensors", McGraw-Hill Aerospace Engineering Series.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2. Satellite Navigation &amp; Geospatial Standards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ISRO IRNSS / </a:t>
            </a:r>
            <a:r>
              <a:rPr sz="1200" dirty="0" err="1"/>
              <a:t>NavIC</a:t>
            </a:r>
            <a:r>
              <a:rPr sz="1200" dirty="0"/>
              <a:t> Signal-in-Space ICD: Indian Space Research </a:t>
            </a:r>
            <a:r>
              <a:rPr sz="1200" dirty="0" err="1"/>
              <a:t>Organisation</a:t>
            </a:r>
            <a:r>
              <a:rPr sz="1200" dirty="0"/>
              <a:t> technical specification for civilian </a:t>
            </a:r>
            <a:r>
              <a:rPr sz="1200" dirty="0" err="1"/>
              <a:t>NavIC</a:t>
            </a:r>
            <a:r>
              <a:rPr sz="1200" dirty="0"/>
              <a:t> positioning integration.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WGS-84 Ellipsoidal Geodetic Model: Mathematical conversion standards for ellipsoidal latitude/longitude to local Cartesian East-North-Up coordinate frames.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OpenStreetMap &amp; OSRM Open Routing Specifications: Standardized vector topological schemas for arterial road network modeling and Dijkstra/A* heuristic graph pathfinding.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endParaRPr sz="1200" dirty="0"/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3. Project Source Code &amp; Production Build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</a:t>
            </a:r>
            <a:r>
              <a:rPr sz="1200" dirty="0" err="1"/>
              <a:t>OffNav</a:t>
            </a:r>
            <a:r>
              <a:rPr sz="1200" dirty="0"/>
              <a:t> Production Repository: </a:t>
            </a:r>
            <a:r>
              <a:rPr sz="1200" dirty="0" err="1"/>
              <a:t>idr_navigation_app</a:t>
            </a:r>
            <a:r>
              <a:rPr sz="1200" dirty="0"/>
              <a:t> (Flutter 3.38 / Dart 3.10 / Impeller Vulkan engine).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Automated Test Validation: 23/23 Automated unit tests passing (flutter test exit code 0).</a:t>
            </a:r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rPr sz="1200" dirty="0"/>
              <a:t>• Verified Production Artifact: c:\Users\dudet\Downloads\MISSIONSIH2K26\OffNav.apk &amp; </a:t>
            </a:r>
            <a:r>
              <a:rPr sz="1200" dirty="0" err="1"/>
              <a:t>ISRO_IDR_Navigation.apk</a:t>
            </a:r>
            <a:r>
              <a:rPr sz="1200" dirty="0"/>
              <a:t> (Validated on Realme 12 5G / Android 16 / API 36).</a:t>
            </a:r>
            <a:endParaRPr lang="en-IN" sz="1200" dirty="0"/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endParaRPr lang="en-IN" sz="1200" dirty="0"/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endParaRPr lang="en-IN" sz="1200" dirty="0"/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endParaRPr lang="en-IN" sz="1200" dirty="0"/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endParaRPr lang="en-IN" sz="1200" dirty="0"/>
          </a:p>
          <a:p>
            <a:pPr>
              <a:spcAft>
                <a:spcPts val="150"/>
              </a:spcAft>
              <a:defRPr sz="950" b="0">
                <a:solidFill>
                  <a:srgbClr val="000000"/>
                </a:solidFill>
                <a:latin typeface="Arial"/>
              </a:defRPr>
            </a:pPr>
            <a:r>
              <a:rPr lang="en-IN" sz="1200" b="1" dirty="0">
                <a:solidFill>
                  <a:srgbClr val="000000"/>
                </a:solidFill>
                <a:latin typeface="Arial"/>
              </a:rPr>
              <a:t>. Prototype &amp; Demonstration Evidence: https: //drive.google.com/drive/folders/1gtaE7CROe82QSCGNXtpset-DtYZG_qOb</a:t>
            </a:r>
            <a:endParaRPr sz="1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5363" y="312861"/>
            <a:ext cx="1508859" cy="664319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Techtrons</a:t>
            </a:r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3541" y="190963"/>
            <a:ext cx="1781706" cy="1143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7582</TotalTime>
  <Words>1741</Words>
  <Application>Microsoft Office PowerPoint</Application>
  <PresentationFormat>Widescreen</PresentationFormat>
  <Paragraphs>118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  SMART INDIA HACKATHON 2026</vt:lpstr>
      <vt:lpstr>System Architecture, Sensor Fusion Pipeline &amp; Full-Stack Implementation</vt:lpstr>
      <vt:lpstr>OffNav: Autonomous Intelligent Dead Reckoning &amp; 100% Off-Grid Navigation for GNSS-Denied Environments</vt:lpstr>
      <vt:lpstr>Feasibility Analysis, Real-World Benchmarks &amp; Risk Mitigation</vt:lpstr>
      <vt:lpstr>Strategic Defense Alignment, Civilian Mobility Impact &amp; Scalability</vt:lpstr>
      <vt:lpstr>Scientific Foundation, Literature Citations &amp; Verification Standards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Diya Ajay</cp:lastModifiedBy>
  <cp:revision>156</cp:revision>
  <dcterms:created xsi:type="dcterms:W3CDTF">2013-12-12T18:46:50Z</dcterms:created>
  <dcterms:modified xsi:type="dcterms:W3CDTF">2026-10-04T13:31:37Z</dcterms:modified>
  <cp:category/>
</cp:coreProperties>
</file>